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A38E08-8BCB-4A13-A0F4-27496737CB7D}" v="121" dt="2026-09-09T17:21:32.693"/>
    <p1510:client id="{707DFDFD-C55A-4B28-B694-558C9CC3989E}" v="7" dt="2026-09-10T10:28:25.469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silnayak38@gmail.com" userId="6d461d1e414a517a" providerId="LiveId" clId="{403D3F30-3D7C-4225-8403-1309A9A184ED}"/>
    <pc:docChg chg="custSel modSld">
      <pc:chgData name="shusilnayak38@gmail.com" userId="6d461d1e414a517a" providerId="LiveId" clId="{403D3F30-3D7C-4225-8403-1309A9A184ED}" dt="2026-09-10T10:30:29.152" v="79" actId="20577"/>
      <pc:docMkLst>
        <pc:docMk/>
      </pc:docMkLst>
      <pc:sldChg chg="delSp modSp mod">
        <pc:chgData name="shusilnayak38@gmail.com" userId="6d461d1e414a517a" providerId="LiveId" clId="{403D3F30-3D7C-4225-8403-1309A9A184ED}" dt="2026-09-10T10:28:34.315" v="36" actId="1076"/>
        <pc:sldMkLst>
          <pc:docMk/>
          <pc:sldMk cId="3401748718" sldId="304"/>
        </pc:sldMkLst>
        <pc:spChg chg="mod">
          <ac:chgData name="shusilnayak38@gmail.com" userId="6d461d1e414a517a" providerId="LiveId" clId="{403D3F30-3D7C-4225-8403-1309A9A184ED}" dt="2026-09-10T10:28:34.315" v="36" actId="1076"/>
          <ac:spMkLst>
            <pc:docMk/>
            <pc:sldMk cId="3401748718" sldId="304"/>
            <ac:spMk id="3" creationId="{D88C20CF-C1EE-4092-B52D-FD4AB2AB2508}"/>
          </ac:spMkLst>
        </pc:spChg>
        <pc:spChg chg="del mod">
          <ac:chgData name="shusilnayak38@gmail.com" userId="6d461d1e414a517a" providerId="LiveId" clId="{403D3F30-3D7C-4225-8403-1309A9A184ED}" dt="2026-09-10T10:28:09.135" v="29" actId="21"/>
          <ac:spMkLst>
            <pc:docMk/>
            <pc:sldMk cId="3401748718" sldId="304"/>
            <ac:spMk id="12" creationId="{BC277FD7-925B-4C3D-A364-118403201507}"/>
          </ac:spMkLst>
        </pc:spChg>
      </pc:sldChg>
      <pc:sldChg chg="modSp mod">
        <pc:chgData name="shusilnayak38@gmail.com" userId="6d461d1e414a517a" providerId="LiveId" clId="{403D3F30-3D7C-4225-8403-1309A9A184ED}" dt="2026-09-10T10:19:25.043" v="9" actId="27636"/>
        <pc:sldMkLst>
          <pc:docMk/>
          <pc:sldMk cId="3696770303" sldId="315"/>
        </pc:sldMkLst>
        <pc:spChg chg="mod">
          <ac:chgData name="shusilnayak38@gmail.com" userId="6d461d1e414a517a" providerId="LiveId" clId="{403D3F30-3D7C-4225-8403-1309A9A184ED}" dt="2026-09-10T10:19:25.043" v="9" actId="27636"/>
          <ac:spMkLst>
            <pc:docMk/>
            <pc:sldMk cId="3696770303" sldId="315"/>
            <ac:spMk id="20" creationId="{00000000-0000-0000-0000-000000000000}"/>
          </ac:spMkLst>
        </pc:spChg>
      </pc:sldChg>
      <pc:sldChg chg="modSp mod">
        <pc:chgData name="shusilnayak38@gmail.com" userId="6d461d1e414a517a" providerId="LiveId" clId="{403D3F30-3D7C-4225-8403-1309A9A184ED}" dt="2026-09-10T10:19:25.032" v="8" actId="27636"/>
        <pc:sldMkLst>
          <pc:docMk/>
          <pc:sldMk cId="3098548442" sldId="327"/>
        </pc:sldMkLst>
        <pc:spChg chg="mod">
          <ac:chgData name="shusilnayak38@gmail.com" userId="6d461d1e414a517a" providerId="LiveId" clId="{403D3F30-3D7C-4225-8403-1309A9A184ED}" dt="2026-09-10T10:19:25.032" v="8" actId="27636"/>
          <ac:spMkLst>
            <pc:docMk/>
            <pc:sldMk cId="3098548442" sldId="327"/>
            <ac:spMk id="2" creationId="{E46E4DD1-270B-4C80-AFF0-EB26F132AF36}"/>
          </ac:spMkLst>
        </pc:spChg>
      </pc:sldChg>
      <pc:sldChg chg="addSp delSp modSp mod">
        <pc:chgData name="shusilnayak38@gmail.com" userId="6d461d1e414a517a" providerId="LiveId" clId="{403D3F30-3D7C-4225-8403-1309A9A184ED}" dt="2026-09-10T10:22:26.047" v="19"/>
        <pc:sldMkLst>
          <pc:docMk/>
          <pc:sldMk cId="1604013440" sldId="338"/>
        </pc:sldMkLst>
        <pc:spChg chg="mod">
          <ac:chgData name="shusilnayak38@gmail.com" userId="6d461d1e414a517a" providerId="LiveId" clId="{403D3F30-3D7C-4225-8403-1309A9A184ED}" dt="2026-09-10T10:21:59.708" v="15" actId="255"/>
          <ac:spMkLst>
            <pc:docMk/>
            <pc:sldMk cId="1604013440" sldId="338"/>
            <ac:spMk id="2" creationId="{7201737A-B873-4D1D-8A41-5ABF5184BC8F}"/>
          </ac:spMkLst>
        </pc:spChg>
        <pc:spChg chg="mod">
          <ac:chgData name="shusilnayak38@gmail.com" userId="6d461d1e414a517a" providerId="LiveId" clId="{403D3F30-3D7C-4225-8403-1309A9A184ED}" dt="2026-09-10T10:22:25.728" v="17" actId="255"/>
          <ac:spMkLst>
            <pc:docMk/>
            <pc:sldMk cId="1604013440" sldId="338"/>
            <ac:spMk id="3" creationId="{17F04107-8754-E47D-3375-529E689711FA}"/>
          </ac:spMkLst>
        </pc:spChg>
        <pc:spChg chg="add del mod">
          <ac:chgData name="shusilnayak38@gmail.com" userId="6d461d1e414a517a" providerId="LiveId" clId="{403D3F30-3D7C-4225-8403-1309A9A184ED}" dt="2026-09-10T10:22:26.047" v="19"/>
          <ac:spMkLst>
            <pc:docMk/>
            <pc:sldMk cId="1604013440" sldId="338"/>
            <ac:spMk id="5" creationId="{3A80A45F-D47D-E9F2-D066-D5B54529AB99}"/>
          </ac:spMkLst>
        </pc:spChg>
      </pc:sldChg>
      <pc:sldChg chg="addSp delSp modSp mod">
        <pc:chgData name="shusilnayak38@gmail.com" userId="6d461d1e414a517a" providerId="LiveId" clId="{403D3F30-3D7C-4225-8403-1309A9A184ED}" dt="2026-09-10T10:30:29.152" v="79" actId="20577"/>
        <pc:sldMkLst>
          <pc:docMk/>
          <pc:sldMk cId="3863610428" sldId="342"/>
        </pc:sldMkLst>
        <pc:spChg chg="add mod">
          <ac:chgData name="shusilnayak38@gmail.com" userId="6d461d1e414a517a" providerId="LiveId" clId="{403D3F30-3D7C-4225-8403-1309A9A184ED}" dt="2026-09-10T10:30:29.152" v="79" actId="20577"/>
          <ac:spMkLst>
            <pc:docMk/>
            <pc:sldMk cId="3863610428" sldId="342"/>
            <ac:spMk id="2" creationId="{ED156FED-97BF-4D82-F884-D2A627F719E3}"/>
          </ac:spMkLst>
        </pc:spChg>
        <pc:spChg chg="mod">
          <ac:chgData name="shusilnayak38@gmail.com" userId="6d461d1e414a517a" providerId="LiveId" clId="{403D3F30-3D7C-4225-8403-1309A9A184ED}" dt="2026-09-10T10:27:27.308" v="26" actId="1076"/>
          <ac:spMkLst>
            <pc:docMk/>
            <pc:sldMk cId="3863610428" sldId="342"/>
            <ac:spMk id="4" creationId="{901A2257-2F98-CB88-038E-C0F1D0A1A363}"/>
          </ac:spMkLst>
        </pc:spChg>
        <pc:picChg chg="del mod">
          <ac:chgData name="shusilnayak38@gmail.com" userId="6d461d1e414a517a" providerId="LiveId" clId="{403D3F30-3D7C-4225-8403-1309A9A184ED}" dt="2026-09-10T10:26:05.508" v="21" actId="21"/>
          <ac:picMkLst>
            <pc:docMk/>
            <pc:sldMk cId="3863610428" sldId="342"/>
            <ac:picMk id="5" creationId="{3D44118A-0276-9E2F-E0E8-85CEE9F1E0C7}"/>
          </ac:picMkLst>
        </pc:picChg>
      </pc:sldChg>
      <pc:sldChg chg="addSp modSp mod">
        <pc:chgData name="shusilnayak38@gmail.com" userId="6d461d1e414a517a" providerId="LiveId" clId="{403D3F30-3D7C-4225-8403-1309A9A184ED}" dt="2026-09-10T10:18:58.030" v="5" actId="1076"/>
        <pc:sldMkLst>
          <pc:docMk/>
          <pc:sldMk cId="3962802212" sldId="343"/>
        </pc:sldMkLst>
        <pc:picChg chg="add mod">
          <ac:chgData name="shusilnayak38@gmail.com" userId="6d461d1e414a517a" providerId="LiveId" clId="{403D3F30-3D7C-4225-8403-1309A9A184ED}" dt="2026-09-10T10:18:58.030" v="5" actId="1076"/>
          <ac:picMkLst>
            <pc:docMk/>
            <pc:sldMk cId="3962802212" sldId="343"/>
            <ac:picMk id="3" creationId="{962818EB-9089-CE22-B2B2-5C937461789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husil132/Project_Seasonal_Agriculture_Perfomance_Analysis" TargetMode="Externa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1927" y="3583914"/>
            <a:ext cx="9330612" cy="67683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b="0" dirty="0">
                <a:solidFill>
                  <a:schemeClr val="tx1"/>
                </a:solidFill>
              </a:rPr>
              <a:t>Student Name- </a:t>
            </a:r>
            <a:r>
              <a:rPr lang="en-US" b="0" dirty="0" err="1">
                <a:solidFill>
                  <a:schemeClr val="tx1"/>
                </a:solidFill>
              </a:rPr>
              <a:t>Shusil</a:t>
            </a:r>
            <a:r>
              <a:rPr lang="en-US" b="0" dirty="0">
                <a:solidFill>
                  <a:schemeClr val="tx1"/>
                </a:solidFill>
              </a:rPr>
              <a:t> Kumar </a:t>
            </a:r>
            <a:r>
              <a:rPr lang="en-US" b="0" dirty="0" err="1">
                <a:solidFill>
                  <a:schemeClr val="tx1"/>
                </a:solidFill>
              </a:rPr>
              <a:t>nayak</a:t>
            </a:r>
            <a:endParaRPr lang="en-US" b="0" dirty="0">
              <a:solidFill>
                <a:schemeClr val="tx1"/>
              </a:solidFill>
            </a:endParaRPr>
          </a:p>
          <a:p>
            <a:pPr algn="just"/>
            <a:r>
              <a:rPr lang="en-US" b="0" dirty="0">
                <a:solidFill>
                  <a:schemeClr val="tx1"/>
                </a:solidFill>
              </a:rPr>
              <a:t>College Name- Vignan Institute of Technology and Management 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927" y="2844750"/>
            <a:ext cx="8817427" cy="743448"/>
          </a:xfrm>
        </p:spPr>
        <p:txBody>
          <a:bodyPr>
            <a:normAutofit/>
          </a:bodyPr>
          <a:lstStyle/>
          <a:p>
            <a:r>
              <a:rPr lang="en-GB" sz="2800" dirty="0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251927" y="4451405"/>
            <a:ext cx="70912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AICTE STU ID : STU698b4484f3ef31770734724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94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charRg st="94" end="9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n-US" sz="2000" dirty="0"/>
              <a:t>Agricultural performance shifts across Kharif, Rabi and Zaid due to changing environmental conditions, farming practices, resource availability and market conditions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Raw agricultural data alone does not explain how or why performance changes from one season to the next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This project analyzes a 4,000-record seasonal agriculture dataset to uncover meaningful seasonal patterns, trends, relationships and variations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Goal: turn raw seasonal data into clear, evidence-based insights that support better agricultural planning</a:t>
            </a:r>
            <a:endParaRPr lang="en-IN" sz="20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lstStyle/>
          <a:p>
            <a:r>
              <a:rPr lang="en-GB" dirty="0"/>
              <a:t>Project Description</a:t>
            </a:r>
            <a:endParaRPr lang="en-IN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2"/>
          </p:nvPr>
        </p:nvSpPr>
        <p:spPr>
          <a:xfrm>
            <a:off x="660400" y="1875556"/>
            <a:ext cx="6431280" cy="42000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1800" dirty="0"/>
              <a:t>Analyzes 4,000 farm records across 8 states, 8 crops and 3 seasons (Kharif, Rabi, Zaid) to understand seasonal agricultural performance</a:t>
            </a:r>
          </a:p>
          <a:p>
            <a:r>
              <a:rPr lang="en-US" sz="1800" dirty="0"/>
              <a:t>Covers the full data analytics workflow: data cleaning &amp; preprocessing, exploratory data analysis (EDA), and seasonal, environmental, resource-usage and economic performance analysis</a:t>
            </a:r>
          </a:p>
          <a:p>
            <a:r>
              <a:rPr lang="en-US" sz="1800" dirty="0"/>
              <a:t>Applies statistical tests (ANOVA, Chi-square, correlation) to confirm which seasonal differences are genuine, not random</a:t>
            </a:r>
          </a:p>
          <a:p>
            <a:r>
              <a:rPr lang="en-US" sz="1800" dirty="0"/>
              <a:t>Uses visualizations (boxplots, bar charts, heatmaps) to compare yield, resource use and profitability across seasons, states and crops</a:t>
            </a:r>
          </a:p>
          <a:p>
            <a:r>
              <a:rPr lang="en-US" sz="1800" dirty="0"/>
              <a:t>Concludes with evidence-based insights and practical recommendations for seasonal agricultural planning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/>
          </a:bodyPr>
          <a:lstStyle/>
          <a:p>
            <a:pPr>
              <a:lnSpc>
                <a:spcPct val="130000"/>
              </a:lnSpc>
            </a:pPr>
            <a:r>
              <a:rPr lang="en-US" sz="2000" b="1" dirty="0"/>
              <a:t>Farmers</a:t>
            </a:r>
            <a:r>
              <a:rPr lang="en-US" sz="2000" dirty="0"/>
              <a:t> – to plan crop choice, timing and resource use season by season</a:t>
            </a:r>
          </a:p>
          <a:p>
            <a:pPr>
              <a:lnSpc>
                <a:spcPct val="130000"/>
              </a:lnSpc>
            </a:pPr>
            <a:r>
              <a:rPr lang="en-US" sz="2000" b="1" dirty="0"/>
              <a:t>Agricultural planners &amp; government departments</a:t>
            </a:r>
            <a:r>
              <a:rPr lang="en-US" sz="2000" dirty="0"/>
              <a:t> – to design season-aware agricultural policies and support programs</a:t>
            </a:r>
          </a:p>
          <a:p>
            <a:pPr>
              <a:lnSpc>
                <a:spcPct val="130000"/>
              </a:lnSpc>
            </a:pPr>
            <a:r>
              <a:rPr lang="en-US" sz="2000" b="1" dirty="0"/>
              <a:t>Agricultural analysts &amp; researchers</a:t>
            </a:r>
            <a:r>
              <a:rPr lang="en-US" sz="2000" dirty="0"/>
              <a:t> – to study seasonal performance patterns and build on these findings</a:t>
            </a:r>
          </a:p>
          <a:p>
            <a:pPr>
              <a:lnSpc>
                <a:spcPct val="130000"/>
              </a:lnSpc>
            </a:pPr>
            <a:r>
              <a:rPr lang="en-US" sz="2000" b="1" dirty="0"/>
              <a:t>Resource planners</a:t>
            </a:r>
            <a:r>
              <a:rPr lang="en-US" sz="2000" dirty="0"/>
              <a:t> – to plan water, fertilizer and irrigation allocation across seasons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>
            <a:normAutofit/>
          </a:bodyPr>
          <a:lstStyle/>
          <a:p>
            <a:pPr>
              <a:lnSpc>
                <a:spcPct val="118000"/>
              </a:lnSpc>
            </a:pPr>
            <a:r>
              <a:rPr lang="en-US" sz="1800" b="1" dirty="0"/>
              <a:t>Python</a:t>
            </a:r>
            <a:r>
              <a:rPr lang="en-US" sz="1800" dirty="0"/>
              <a:t> – core programming language for the analysis</a:t>
            </a:r>
          </a:p>
          <a:p>
            <a:pPr>
              <a:lnSpc>
                <a:spcPct val="118000"/>
              </a:lnSpc>
            </a:pPr>
            <a:r>
              <a:rPr lang="en-US" sz="1800" b="1" dirty="0"/>
              <a:t>Pandas &amp; NumPy</a:t>
            </a:r>
            <a:r>
              <a:rPr lang="en-US" sz="1800" dirty="0"/>
              <a:t> – data loading, cleaning and aggregation</a:t>
            </a:r>
          </a:p>
          <a:p>
            <a:pPr>
              <a:lnSpc>
                <a:spcPct val="118000"/>
              </a:lnSpc>
            </a:pPr>
            <a:r>
              <a:rPr lang="en-US" sz="1800" b="1" dirty="0"/>
              <a:t>Matplotlib &amp; Seaborn</a:t>
            </a:r>
            <a:r>
              <a:rPr lang="en-US" sz="1800" dirty="0"/>
              <a:t> – data visualization and charts</a:t>
            </a:r>
          </a:p>
          <a:p>
            <a:pPr>
              <a:lnSpc>
                <a:spcPct val="118000"/>
              </a:lnSpc>
            </a:pPr>
            <a:r>
              <a:rPr lang="en-US" sz="1800" b="1" dirty="0"/>
              <a:t>SciPy</a:t>
            </a:r>
            <a:r>
              <a:rPr lang="en-US" sz="1800" dirty="0"/>
              <a:t> – statistical testing (ANOVA, Chi-square, correlation)</a:t>
            </a:r>
          </a:p>
          <a:p>
            <a:pPr>
              <a:lnSpc>
                <a:spcPct val="118000"/>
              </a:lnSpc>
            </a:pPr>
            <a:r>
              <a:rPr lang="en-US" sz="1800" b="1" dirty="0"/>
              <a:t>Jupyter Notebook</a:t>
            </a:r>
            <a:r>
              <a:rPr lang="en-US" sz="1800" dirty="0"/>
              <a:t> – environment used to build and document the analysis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1B7F79"/>
                </a:solidFill>
              </a:rPr>
              <a:t>Kharif: 1.81 t/ha (highest)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B4432E"/>
                </a:solidFill>
              </a:rPr>
              <a:t>Zaid: 64.5% of farms in loss</a:t>
            </a:r>
          </a:p>
        </p:txBody>
      </p:sp>
      <p:pic>
        <p:nvPicPr>
          <p:cNvPr id="100" name="Chart Headl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280" y="2150000"/>
            <a:ext cx="6949440" cy="3713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1B7F79"/>
                </a:solidFill>
              </a:rPr>
              <a:t>Seasonal Yield Comparison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1B7F79"/>
                </a:solidFill>
              </a:rPr>
              <a:t>Rice ANOVA: p &lt; 0.001</a:t>
            </a:r>
          </a:p>
        </p:txBody>
      </p:sp>
      <p:pic>
        <p:nvPicPr>
          <p:cNvPr id="101" name="Code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328" y="2000000"/>
            <a:ext cx="3017344" cy="1143000"/>
          </a:xfrm>
          <a:prstGeom prst="rect">
            <a:avLst/>
          </a:prstGeom>
        </p:spPr>
      </p:pic>
      <p:pic>
        <p:nvPicPr>
          <p:cNvPr id="102" name="Result 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380" y="3273000"/>
            <a:ext cx="5987241" cy="306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2E7D6B"/>
                </a:solidFill>
              </a:rPr>
              <a:t>Water Use vs Efficiency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C98B3F"/>
                </a:solidFill>
              </a:rPr>
              <a:t>Zaid: high use, low efficiency</a:t>
            </a:r>
          </a:p>
        </p:txBody>
      </p:sp>
      <p:pic>
        <p:nvPicPr>
          <p:cNvPr id="101" name="Code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247" y="2000000"/>
            <a:ext cx="2849506" cy="1143000"/>
          </a:xfrm>
          <a:prstGeom prst="rect">
            <a:avLst/>
          </a:prstGeom>
        </p:spPr>
      </p:pic>
      <p:pic>
        <p:nvPicPr>
          <p:cNvPr id="102" name="Result 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380" y="3273000"/>
            <a:ext cx="5987241" cy="306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2E7D6B"/>
                </a:solidFill>
              </a:rPr>
              <a:t>Yield by State &amp; Season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2E7D6B"/>
                </a:solidFill>
              </a:rPr>
              <a:t>Kharif leads most states</a:t>
            </a:r>
          </a:p>
        </p:txBody>
      </p:sp>
      <p:pic>
        <p:nvPicPr>
          <p:cNvPr id="101" name="Code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297" y="2000000"/>
            <a:ext cx="4447407" cy="1143000"/>
          </a:xfrm>
          <a:prstGeom prst="rect">
            <a:avLst/>
          </a:prstGeom>
        </p:spPr>
      </p:pic>
      <p:pic>
        <p:nvPicPr>
          <p:cNvPr id="102" name="Result 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1479" y="3273000"/>
            <a:ext cx="4477043" cy="306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2E7D6B"/>
                </a:solidFill>
              </a:rPr>
              <a:t>Profit &amp; Loss by Season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 dirty="0">
                <a:solidFill>
                  <a:srgbClr val="B4432E"/>
                </a:solidFill>
              </a:rPr>
              <a:t>Only Kharif profit is positive</a:t>
            </a:r>
          </a:p>
        </p:txBody>
      </p:sp>
      <p:pic>
        <p:nvPicPr>
          <p:cNvPr id="101" name="Code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435" y="2000000"/>
            <a:ext cx="5371131" cy="1143000"/>
          </a:xfrm>
          <a:prstGeom prst="rect">
            <a:avLst/>
          </a:prstGeom>
        </p:spPr>
      </p:pic>
      <p:pic>
        <p:nvPicPr>
          <p:cNvPr id="102" name="Result Char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6380" y="3273000"/>
            <a:ext cx="5987241" cy="3063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1B7F79"/>
                </a:solidFill>
              </a:rPr>
              <a:t>Data &amp; Modeling</a:t>
            </a:r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rgbClr val="2E7D6B"/>
                </a:solidFill>
              </a:rPr>
              <a:t>Planning &amp; Optimization</a:t>
            </a:r>
          </a:p>
        </p:txBody>
      </p:sp>
      <p:sp>
        <p:nvSpPr>
          <p:cNvPr id="50" name="Future Scope Bullets 50"/>
          <p:cNvSpPr txBox="1"/>
          <p:nvPr/>
        </p:nvSpPr>
        <p:spPr>
          <a:xfrm>
            <a:off x="320982" y="2050000"/>
            <a:ext cx="3343561" cy="3700000"/>
          </a:xfrm>
          <a:prstGeom prst="rect">
            <a:avLst/>
          </a:prstGeom>
        </p:spPr>
        <p:txBody>
          <a:bodyPr wrap="square" lIns="45720" tIns="45720" rIns="45720" bIns="45720">
            <a:normAutofit/>
          </a:bodyPr>
          <a:lstStyle/>
          <a:p>
            <a:pPr marL="228600" indent="-228600">
              <a:lnSpc>
                <a:spcPct val="115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500" dirty="0"/>
              <a:t>Larger, multi-year datasets for stronger seasonal trend analysis</a:t>
            </a:r>
          </a:p>
          <a:p>
            <a:pPr marL="228600" indent="-228600">
              <a:lnSpc>
                <a:spcPct val="115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500" dirty="0"/>
              <a:t>Integration of real-time weather and soil-sensor data</a:t>
            </a:r>
          </a:p>
          <a:p>
            <a:pPr marL="228600" indent="-228600">
              <a:lnSpc>
                <a:spcPct val="115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500" dirty="0"/>
              <a:t>Predictive yield-forecasting models</a:t>
            </a:r>
          </a:p>
        </p:txBody>
      </p:sp>
      <p:sp>
        <p:nvSpPr>
          <p:cNvPr id="51" name="Future Scope Bullets 51"/>
          <p:cNvSpPr txBox="1"/>
          <p:nvPr/>
        </p:nvSpPr>
        <p:spPr>
          <a:xfrm>
            <a:off x="4345694" y="2050000"/>
            <a:ext cx="3343561" cy="3700000"/>
          </a:xfrm>
          <a:prstGeom prst="rect">
            <a:avLst/>
          </a:prstGeom>
        </p:spPr>
        <p:txBody>
          <a:bodyPr wrap="square" lIns="45720" tIns="45720" rIns="45720" bIns="45720">
            <a:normAutofit/>
          </a:bodyPr>
          <a:lstStyle/>
          <a:p>
            <a:pPr marL="228600" indent="-228600">
              <a:lnSpc>
                <a:spcPct val="115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500" dirty="0"/>
              <a:t>Crop recommendation system by season and region</a:t>
            </a:r>
          </a:p>
          <a:p>
            <a:pPr marL="228600" indent="-228600">
              <a:lnSpc>
                <a:spcPct val="115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500" dirty="0"/>
              <a:t>Resource (water, fertilizer) optimization tools</a:t>
            </a:r>
          </a:p>
          <a:p>
            <a:pPr marL="228600" indent="-228600">
              <a:lnSpc>
                <a:spcPct val="115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500" dirty="0"/>
              <a:t>Extension to more states, crops and seasons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32" y="859872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156FED-97BF-4D82-F884-D2A627F719E3}"/>
              </a:ext>
            </a:extLst>
          </p:cNvPr>
          <p:cNvSpPr txBox="1"/>
          <p:nvPr/>
        </p:nvSpPr>
        <p:spPr>
          <a:xfrm>
            <a:off x="830425" y="2164702"/>
            <a:ext cx="9004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[https://github.com/Shusil132/Project_Seasonal_Agriculture_Perfomance_Analysis</a:t>
            </a:r>
            <a:r>
              <a:rPr lang="en-IN" dirty="0">
                <a:solidFill>
                  <a:schemeClr val="accent2"/>
                </a:solidFill>
              </a:rPr>
              <a:t> ]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2818EB-9089-CE22-B2B2-5C9374617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601962"/>
            <a:ext cx="7129418" cy="4636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68983" y="1904014"/>
            <a:ext cx="11340000" cy="2118049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72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1384</TotalTime>
  <Words>469</Words>
  <Application>Microsoft Office PowerPoint</Application>
  <PresentationFormat>Widescreen</PresentationFormat>
  <Paragraphs>57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Seasonal Agriculture Performance Analysis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shusilnayak38@gmail.com</cp:lastModifiedBy>
  <cp:revision>99</cp:revision>
  <dcterms:created xsi:type="dcterms:W3CDTF">2021-07-11T13:13:15Z</dcterms:created>
  <dcterms:modified xsi:type="dcterms:W3CDTF">2026-09-10T10:30:34Z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